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Urbanist" panose="020B0604020202020204" charset="0"/>
      <p:regular r:id="rId16"/>
      <p:bold r:id="rId17"/>
      <p:italic r:id="rId18"/>
      <p:boldItalic r:id="rId19"/>
    </p:embeddedFont>
    <p:embeddedFont>
      <p:font typeface="Urbanist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719452-AF12-4C96-92C3-1A6FF82C164A}">
  <a:tblStyle styleId="{13719452-AF12-4C96-92C3-1A6FF82C164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595" y="7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95512" y="245745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Streaming </a:t>
            </a:r>
            <a:r>
              <a:rPr lang="en-US" sz="60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Economics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48615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Análise Estratégica de Crescimento, LTV e Otimização de Budget Executivo para o Q2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4074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750343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Oportunidade de Eficiência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264693"/>
            <a:ext cx="5238750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Identificamos um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potencial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ganho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57% no ROAS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através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da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realocação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estratégica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investimentos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Atualmente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canais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baixa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intenção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consomem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margem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que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deveria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ser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destinada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segmentos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alto valor.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5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lang="en-US" sz="1500" dirty="0">
              <a:solidFill>
                <a:srgbClr val="CCCCC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50268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14400" y="4598193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4598193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LTV do Plano Família é 3.8x superior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ao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HBO.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14400" y="4883943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4883943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Gargalo crítico de 81% no funil de ativação.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5169693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5169693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CDN representa 22% dos custos operacionais.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Sumário Executivo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5136"/>
            <a:ext cx="11049000" cy="448136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664993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Nota: Há uma super-indexação em planos de menor rentabilidade (HBO/Telecine) em canais de alto custo (Meta Ads).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Alocação do Budget de Marketing Atual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21993"/>
            <a:ext cx="110490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05136"/>
            <a:ext cx="11049000" cy="448136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62000" y="4902993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Insight Crítico: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 Plano Família não possui apenas o maior ticket, mas a menor taxa de churn (8%), resultando em um tempo de vida do cliente significativamente superior.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Rentabilidade por Produto (LTV)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4593"/>
            <a:ext cx="34925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64593"/>
            <a:ext cx="34925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64593"/>
            <a:ext cx="3492549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866775" y="3483768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Google Ads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66775" y="3998118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Melhor performance para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Plano Premiere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 Intenção direta em dias de jogo reduz o CAC em 35% vs. média.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4645074" y="3483768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Meta Ads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645074" y="3998118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Ideal para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Storytelling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do Plano Família. Alto alcance, mas saturado para planos de nicho como HBO.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423374" y="3483768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TikTok Ads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423374" y="3998118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Excelente para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TVOD (Aluguéis)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 Comportamento impulsivo gera conversões de baixo ticket com CAC de R$ 35.</a:t>
            </a:r>
            <a:endParaRPr/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88443"/>
            <a:ext cx="3619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8844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8844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Eficiência por Canal de Aquisição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3336131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81%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4479131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DROP-OFF ATIVAÇÃO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381750" y="2874168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A Barreira da Conversão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381750" y="3388533"/>
            <a:ext cx="52389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 maior vazamento de capital ocorre na transição entre o primeiro engajamento (Play) e a assinatura paga. A fricção no checkout e a falta de clareza na proposta de valor do paywall são os principais detratores de crescimento.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81825" y="4755361"/>
            <a:ext cx="52389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Falta uma estratégia de Freemium to Paid costumer, gerando uma base de usuário de 75% de consumidores de video gratuitos e não assinantes recorrentes</a:t>
            </a:r>
            <a:endParaRPr sz="1500">
              <a:solidFill>
                <a:srgbClr val="CCCCC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Focar em UX de pagamento traria um ROI superior a qualquer incremento de investimento em mídia paga.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Diagnóstico do Funil: O Gargalo Crítico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0743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150268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6381750" y="3036093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Custo de Entrega (CDN)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381750" y="3550443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Com um custo mensal de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R$ 2.5M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, a CDN é o maior driver de OPEX após o conteúdo.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724650" y="4312443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762750" y="4312443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R$ 17,24 de custo de infra por assinante.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724650" y="4598193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762750" y="4598193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Inexistência de conteúdo 4K mitiga custos maiores.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724650" y="4883943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762750" y="4883943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Necessidade de otimização de bitrate para mobile.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Impacto da Infraestrutura na Margem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1868"/>
            <a:ext cx="5238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521868"/>
            <a:ext cx="5238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805136"/>
            <a:ext cx="11049000" cy="448136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866775" y="4083843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Receita Mensal (Atual)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66775" y="4750593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R$ 12.3M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677025" y="4083843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Receita Mensal (Otimizada)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677025" y="4750593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R$ 17.9M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Perspectiva Financeira: Atual vs Otimizado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40743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16893"/>
            <a:ext cx="52387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40993"/>
            <a:ext cx="52387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150268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866775" y="2378868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1. Concentração de Capital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66775" y="2893218"/>
            <a:ext cx="4648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Mover 15% do budget dos planos HBO/Telecine para o Plano Família via Meta Ads.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866775" y="4702968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2. Task Force de Conversão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866775" y="5217318"/>
            <a:ext cx="4648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Implementar 'One-Click Payment' e trials agressivos para mitigar o drop-off de 81%.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Recomendações Estratégicas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/>
          <p:nvPr/>
        </p:nvSpPr>
        <p:spPr>
          <a:xfrm>
            <a:off x="571500" y="3874293"/>
            <a:ext cx="11049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10733" y="3474243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Mês 1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71500" y="3988593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Rebalanceamento de canais de aquisição.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3383413" y="3474243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Mês 2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3444180" y="3988593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Auditoria de custos de CDN e peering.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256094" y="3474243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Mês 3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316860" y="3988593"/>
            <a:ext cx="2430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Lançamento do nov</a:t>
            </a:r>
            <a:r>
              <a:rPr lang="en-US" sz="15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 feature de Freemium to Paid customer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9128774" y="3474243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0914"/>
                </a:solidFill>
                <a:latin typeface="Urbanist"/>
                <a:ea typeface="Urbanist"/>
                <a:cs typeface="Urbanist"/>
                <a:sym typeface="Urbanist"/>
              </a:rPr>
              <a:t>Mês 4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189541" y="3988593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Análise de Cohort e expansão de ROAS.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Roadmap de Execução (Q3-Q4)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1672530" y="564594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4545210" y="564594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7417891" y="564594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10290571" y="564594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5" name="Google Shape;225;p23"/>
          <p:cNvGraphicFramePr/>
          <p:nvPr/>
        </p:nvGraphicFramePr>
        <p:xfrm>
          <a:off x="571500" y="2607468"/>
          <a:ext cx="11048975" cy="2876500"/>
        </p:xfrm>
        <a:graphic>
          <a:graphicData uri="http://schemas.openxmlformats.org/drawingml/2006/table">
            <a:tbl>
              <a:tblPr firstRow="1" bandRow="1">
                <a:noFill/>
                <a:tableStyleId>{13719452-AF12-4C96-92C3-1A6FF82C164A}</a:tableStyleId>
              </a:tblPr>
              <a:tblGrid>
                <a:gridCol w="172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9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091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Plano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091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Ticket Médio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091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Churn Mensal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091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LTV Bruto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5091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CAC Alvo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Família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R$ 121,00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8.0%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R$ 1.512,50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R$ 90,00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Premiere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R$ 90,00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12.0%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R$ 750,00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R$ 60,00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HBO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R$ 40,00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10.0%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R$ 400,00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R$ 80,00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TVOD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R$ 25,00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14.3%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R$ 175,00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R$ 25,00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6" name="Google Shape;226;p23"/>
          <p:cNvSpPr/>
          <p:nvPr/>
        </p:nvSpPr>
        <p:spPr>
          <a:xfrm>
            <a:off x="571500" y="3207543"/>
            <a:ext cx="1729382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2300882" y="3207543"/>
            <a:ext cx="251400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4814887" y="3207543"/>
            <a:ext cx="265807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7472957" y="3207543"/>
            <a:ext cx="2097583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9570541" y="3207543"/>
            <a:ext cx="204995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571500" y="3783806"/>
            <a:ext cx="172938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2300882" y="3783806"/>
            <a:ext cx="251400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4814887" y="3783806"/>
            <a:ext cx="265807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7472957" y="3783806"/>
            <a:ext cx="209758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9570541" y="3783806"/>
            <a:ext cx="204995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71500" y="4345781"/>
            <a:ext cx="172938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2300882" y="4345781"/>
            <a:ext cx="251400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4814887" y="4345781"/>
            <a:ext cx="265807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7472957" y="4345781"/>
            <a:ext cx="209758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9570541" y="4345781"/>
            <a:ext cx="204995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71500" y="4907756"/>
            <a:ext cx="172938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2300882" y="4907756"/>
            <a:ext cx="251400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4814887" y="4907756"/>
            <a:ext cx="265807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7472957" y="4907756"/>
            <a:ext cx="209758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9570541" y="4907756"/>
            <a:ext cx="204995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71500" y="5469731"/>
            <a:ext cx="172938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2300882" y="5469731"/>
            <a:ext cx="251400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4814887" y="5469731"/>
            <a:ext cx="265807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7472957" y="5469731"/>
            <a:ext cx="209758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9570541" y="5469731"/>
            <a:ext cx="204995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Métricas Detalhadas por Segmento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14625350" y="3682750"/>
            <a:ext cx="12207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4840843" y="2181225"/>
            <a:ext cx="251031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Dúvidas?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2286000" y="353184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 futuro do streaming não é apenas sobre conteúdo, mas sobre a ciência da retenção e eficiência de canais.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/>
          <p:nvPr/>
        </p:nvSpPr>
        <p:spPr>
          <a:xfrm>
            <a:off x="571500" y="2336006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3107531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3879056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30980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30980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1500" y="38695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38695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1500" y="48125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1500" y="48125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88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66875" y="2486025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https://cdn.prod.website-files.com/617960145ff34f911afe7243/692610a2df06ad0ee562a700_Analytics%20Dashboards%20with%20Real-Time%20Financial%20Data%20.jpg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271938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intrinio.com</a:t>
            </a:r>
            <a:endParaRPr/>
          </a:p>
        </p:txBody>
      </p:sp>
      <p:pic>
        <p:nvPicPr>
          <p:cNvPr id="278" name="Google Shape;27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504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1666875" y="3257550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https://cdn.dribbble.com/userupload/43954079/file/original-3da056bb8b4f45b6c8040d1593ff922d.jpg?format=webp&amp;resize=400x300&amp;vertical=center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666875" y="34909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dribbble.com</a:t>
            </a:r>
            <a:endParaRPr/>
          </a:p>
        </p:txBody>
      </p:sp>
      <p:pic>
        <p:nvPicPr>
          <p:cNvPr id="281" name="Google Shape;28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076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1666875" y="4021931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https://static.vecteezy.com/system/resources/thumbnails/077/975/113/small/office-tablet-and-business-woman-online-for-financial-review-budget-report-and-investment-info-professional-company-consulting-and-worker-on-digital-tech-for-research-finance-planning-or-website-photo.jpg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666875" y="44410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id="284" name="Google Shape;284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0506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666875" y="4964906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https://static.vecteezy.com/system/resources/previews/070/214/850/non_2x/abstract-futuristic-global-network-connection-with-connecting-dots-and-lines-on-dark-blue-background-big-data-visualization-internet-technology-and-science-concept-vector.jpg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666875" y="53840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</Words>
  <Application>Microsoft Office PowerPoint</Application>
  <PresentationFormat>Widescreen</PresentationFormat>
  <Paragraphs>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Urbanist</vt:lpstr>
      <vt:lpstr>Urbanist SemiBold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Paula Costa Corte-Real</cp:lastModifiedBy>
  <cp:revision>1</cp:revision>
  <dcterms:modified xsi:type="dcterms:W3CDTF">2026-04-28T18:41:35Z</dcterms:modified>
</cp:coreProperties>
</file>